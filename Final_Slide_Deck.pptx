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79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22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4EAB-7D8C-A1C9-138D-FEDDBDD4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E9C1D-2CCB-41DA-1204-FB25A2813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68AC9-0142-CA9E-D8E0-DA6472145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0BC61-3102-F127-F118-985378314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80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799-C103-95C2-078C-469195DC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D4E75-BF71-0BF4-0C51-F324C7EBE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AD3EE-616B-5A79-1F4E-490218B84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86836-3745-8FCC-16E4-D858E410D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4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B7CE-2787-3248-179B-66C891EB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38686-9B73-14E7-8FFF-8007DF7DA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51CF8-4647-3D98-677B-DB7E8301C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3139-3640-E60A-7F1A-656772D23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4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8E8"/>
                </a:solidFill>
              </a:rPr>
              <a:t>CS361 — Cybersecurity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AI-Assisted Phishing Detection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for Healthcare Email Systems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8E8"/>
                </a:solidFill>
              </a:rPr>
              <a:t>Final Project Presentation — Checkpoint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</a:rPr>
              <a:t>Sergio Olivas  •  Khumbo Nyirenda  •  Cerilo Yousif
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</a:rPr>
              <a:t>Ernest Apollon  •  Victor Olatunji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github.com/SergioOlivas1/CS361   |   April 26,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82296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1.  Problem Statement &amp; Scope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2.  System Architecture &amp; Pipeline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3.  Asset Inventory &amp; Threat Model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4.  Defensive Controls (v1 → v2)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5.  Validation Results &amp; Metrics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6.  Residual Risk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7.  Recommendations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8.  Conclusion &amp; Q&amp;A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Why phishing in healthcare is uniquely dangerous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Problem: Phishing in Healthcare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Threat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Phishing = #1 healthcare breach vector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Small clinics lack enterprise security tooling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Employees interact with patient, billing &amp; scheduling emails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Traditional spam filters miss targeted, low-volume attacks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HIPAA breach → fines up to $1.9M per category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114800" cy="320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AI-assisted detection pipeline in Python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Analyzes sender, keywords, URLs,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Three-tier output: Safe / Suspicious / Phishing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No external dependencies — deployable anywhere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Audit log for every classification decision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777240"/>
            <a:ext cx="0" cy="38404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7-stage detection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Detection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926080" cy="502920"/>
          </a:xfrm>
          <a:prstGeom prst="rect">
            <a:avLst/>
          </a:prstGeom>
          <a:solidFill>
            <a:srgbClr val="2D2D2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Incoming Email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7498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External message arrives at clinic mail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2926080" cy="502920"/>
          </a:xfrm>
          <a:prstGeom prst="rect">
            <a:avLst/>
          </a:prstGeom>
          <a:solidFill>
            <a:srgbClr val="3D3D3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Preprocessing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26464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3533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Extract: sender, display name, links,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2926080" cy="502920"/>
          </a:xfrm>
          <a:prstGeom prst="rect">
            <a:avLst/>
          </a:prstGeom>
          <a:solidFill>
            <a:srgbClr val="2D2D2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956816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Feature Extraction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029968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956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Analyze: keywords, metadata, URLs, 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2926080" cy="502920"/>
          </a:xfrm>
          <a:prstGeom prst="rect">
            <a:avLst/>
          </a:prstGeom>
          <a:solidFill>
            <a:srgbClr val="3D3D3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AI Detection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33472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5603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Score: obfuscation, spoofing, pattern matching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163824"/>
            <a:ext cx="2926080" cy="502920"/>
          </a:xfrm>
          <a:prstGeom prst="rect">
            <a:avLst/>
          </a:prstGeom>
          <a:solidFill>
            <a:srgbClr val="2D2D2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163824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Risk Scoring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36976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316382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0–100 weighted flag sum (capped at 100)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767328"/>
            <a:ext cx="2926080" cy="502920"/>
          </a:xfrm>
          <a:prstGeom prst="rect">
            <a:avLst/>
          </a:prstGeom>
          <a:solidFill>
            <a:srgbClr val="3D3D3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767328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Classification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840480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37673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Safe (0–29) / Suspicious (30–59) / Phishing (60+)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370832"/>
            <a:ext cx="2926080" cy="502920"/>
          </a:xfrm>
          <a:prstGeom prst="rect">
            <a:avLst/>
          </a:prstGeom>
          <a:solidFill>
            <a:srgbClr val="2D2D2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370832"/>
            <a:ext cx="28346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Action &amp; Logging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4443984"/>
            <a:ext cx="0" cy="34747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43708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Deliver / Warn / Quarantine + CSV log entry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Trust Boundaries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64592" cy="7498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164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822960"/>
            <a:ext cx="8321040" cy="74980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External Email → Clinic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2070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Primary attack entry: unknown sender, unvetted content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164592" cy="7498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28800"/>
            <a:ext cx="164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8321040" cy="749808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Email System → AI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2128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Raw data input: could contain adversarial inputs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64592" cy="7498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834640"/>
            <a:ext cx="164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8321040" cy="74980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AI Model → Employee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18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Human decision point: employee may override warnings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164592" cy="7498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840480"/>
            <a:ext cx="164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8321040" cy="749808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Employee Device → Internal Systems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245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Compromised endpoint: lateral movement risk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Threat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Assets, threats, and abuse scenarios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Asset Inventory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31520"/>
            <a:ext cx="5029200" cy="2743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31520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731520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731520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51560"/>
            <a:ext cx="5029200" cy="43891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051560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Patient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115568"/>
            <a:ext cx="1097280" cy="310896"/>
          </a:xfrm>
          <a:prstGeom prst="rect">
            <a:avLst/>
          </a:prstGeom>
          <a:solidFill>
            <a:srgbClr val="99000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11155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0515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HIPAA-regulated; breach = fines + legal exposure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536192"/>
            <a:ext cx="5029200" cy="4389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1536192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Employee Credentials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1600200"/>
            <a:ext cx="1097280" cy="310896"/>
          </a:xfrm>
          <a:prstGeom prst="rect">
            <a:avLst/>
          </a:prstGeom>
          <a:solidFill>
            <a:srgbClr val="99000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0" y="16002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5361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Stolen logins enable full account takeover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020824"/>
            <a:ext cx="5029200" cy="43891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020824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Email Accounts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084832"/>
            <a:ext cx="1097280" cy="310896"/>
          </a:xfrm>
          <a:prstGeom prst="rect">
            <a:avLst/>
          </a:prstGeom>
          <a:solidFill>
            <a:srgbClr val="44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0" y="20848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20208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Primary attack surface — all phishing arrives here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505456"/>
            <a:ext cx="5029200" cy="4389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505456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Email Server / System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2569464"/>
            <a:ext cx="1097280" cy="310896"/>
          </a:xfrm>
          <a:prstGeom prst="rect">
            <a:avLst/>
          </a:prstGeom>
          <a:solidFill>
            <a:srgbClr val="44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08960" y="25694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5054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Entry point for all external communication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2990088"/>
            <a:ext cx="5029200" cy="43891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2990088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AI Detection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08960" y="3054096"/>
            <a:ext cx="1097280" cy="310896"/>
          </a:xfrm>
          <a:prstGeom prst="rect">
            <a:avLst/>
          </a:prstGeom>
          <a:solidFill>
            <a:srgbClr val="44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305409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29900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Evaded or manipulated → no protection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3474720"/>
            <a:ext cx="5029200" cy="4389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3474720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Internal Network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3538728"/>
            <a:ext cx="1097280" cy="310896"/>
          </a:xfrm>
          <a:prstGeom prst="rect">
            <a:avLst/>
          </a:prstGeom>
          <a:solidFill>
            <a:srgbClr val="44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08960" y="35387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4747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Compromised endpoint → lateral movement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3959352"/>
            <a:ext cx="5029200" cy="43891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8600" y="3959352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Attachments / Links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4023360"/>
            <a:ext cx="1097280" cy="310896"/>
          </a:xfrm>
          <a:prstGeom prst="rect">
            <a:avLst/>
          </a:prstGeom>
          <a:solidFill>
            <a:srgbClr val="66666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0" y="40233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959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Most common malware delivery mechanism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443984"/>
            <a:ext cx="5029200" cy="4389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28600" y="4443984"/>
            <a:ext cx="28346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Employee Trust in System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108960" y="4507992"/>
            <a:ext cx="1097280" cy="310896"/>
          </a:xfrm>
          <a:prstGeom prst="rect">
            <a:avLst/>
          </a:prstGeom>
          <a:solidFill>
            <a:srgbClr val="66666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108960" y="45079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03520" y="444398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Ignored warnings defeat all technical controls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Threats &amp; Abuse Scenarios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5 Threats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Phishing with healthcare lures (invoice, EOB, portal)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Credential harvesting via fake login pages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Malware delivery via email attachments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Display-name spoofing / social engineering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AI evasion via obfuscated keyword variants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114800" cy="320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Abuse Scenarios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Fake clinic billing email → spoofed login → credentials stolen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Malicious attachment disguised as patient referral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V3RIFY YOUR ACC0UNT NOW — bypasses v1, caught by v2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"Clinic Billing Dept" display name → external domain sender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Compromised account used to phish colleagues internally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777240"/>
            <a:ext cx="0" cy="38404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Defensive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What we built in v2 and why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Six New Controls — v2 vs. v1 Baseline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548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749808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749808"/>
            <a:ext cx="29260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CP2 Risk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749808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 Focus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749808"/>
            <a:ext cx="1371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Validated By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078992"/>
            <a:ext cx="8778240" cy="56692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1078992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078992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Obfuscation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1078992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AI evasion (Critical 25)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078992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1078992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TC-10, TC-12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1078992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1709928"/>
            <a:ext cx="8778240" cy="56692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" y="1709928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1709928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Display-Name Spoofing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1709928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Social engineering (High)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1709928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TC-07, TC-14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340864"/>
            <a:ext cx="8778240" cy="56692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2340864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2340864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Quarantine Flag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2340864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Phishing bypass (Critical)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340864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2340864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All Phishing TCs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340864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971800"/>
            <a:ext cx="8778240" cy="56692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" y="2971800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2971800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CSV Audit Logging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2971800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Traceability gap (CP2)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971800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2971800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All 15 TCs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2971800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602736"/>
            <a:ext cx="8778240" cy="56692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2880" y="3602736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3602736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Expanded Keyword Library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94560" y="3602736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Detection coverage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602736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89520" y="3602736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TC-07,08,09,14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3602736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4233672"/>
            <a:ext cx="8778240" cy="56692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82880" y="4233672"/>
            <a:ext cx="548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C-06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" y="4233672"/>
            <a:ext cx="1463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Extended URL Patterns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194560" y="4233672"/>
            <a:ext cx="2926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Phishing link delivery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20640" y="4233672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89520" y="4233672"/>
            <a:ext cx="13716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TC-07, TC-12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20640" y="4233672"/>
            <a:ext cx="2468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Regex/logic added to analyze_email()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Control Detail: Obfuscation (C-01) &amp; Spoofing (C-02)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C-01: Regex catches character substitution — V3RIFY, ACC0UNT, CL1CK H3RE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8412480" cy="11338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OBFUSCATION_PATTERNS = [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(r"v[e3]r[i1]f[y!]", "obfuscated 'verify'"),
    (r"acc[o0]unt",       "obfuscated 'account'"),
    (r"p[a@]ssw[o0]rd",   "obfuscated 'password'"),  ...
</a:t>
            </a: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# Each match: score +=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C-02: Display-name vs. sender-domain trust check (+25 pts if mismatch)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15768"/>
            <a:ext cx="8595360" cy="118872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734056"/>
            <a:ext cx="8412480" cy="113385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any(t in display_name for t in ["clinic","billing","health"]):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sender_domain not in TRUSTED_DOMAINS:
</a:t>
            </a:r>
            <a:r>
              <a:rPr lang="en-US" sz="1100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+= 25
</a:t>
            </a:r>
            <a:r>
              <a:rPr lang="en-US" sz="11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flags.append("Display-name spoofing detected")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TC-10 scored 0 in v1 (no exact keyword match) → scored 80 in v2 (obfuscation caught)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TC-07 &amp; TC-14: Display-name "Clinic Billing Dept" from external domain → quarantined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Validation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15 test cases — before &amp; after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Accuracy Metrics — Baseline vs. Controlled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393192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749808"/>
            <a:ext cx="237744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749808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 With Controls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69848"/>
            <a:ext cx="8778240" cy="34747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Test cases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069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463040"/>
            <a:ext cx="8778240" cy="3474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Passed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5 /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13 / 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1856232"/>
            <a:ext cx="8778240" cy="34747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True Positives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1856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856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249424"/>
            <a:ext cx="8778240" cy="3474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True Negatives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2642616"/>
            <a:ext cx="8778240" cy="34747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2642616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False Positives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642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642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0  ← Zero maintained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3035808"/>
            <a:ext cx="8778240" cy="3474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288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False Negatives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3035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035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1  (TC-08 edge case)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3429000"/>
            <a:ext cx="8778240" cy="34747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3429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100%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100%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3822192"/>
            <a:ext cx="8778240" cy="3474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Recall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0" y="3822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est. 60%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88.9%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2880" y="4215384"/>
            <a:ext cx="8778240" cy="34747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82880" y="4215384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F1 Score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215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est. 75%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42153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94.1%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4608576"/>
            <a:ext cx="8778240" cy="3474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" y="4608576"/>
            <a:ext cx="393192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Accuracy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0" y="46085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est. 60%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46085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00"/>
                </a:solidFill>
              </a:rPr>
              <a:t>93.3%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Suite — 15 Cases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</a:rPr>
              <a:t>All 7 screenshots captured from live phishing_detector_v2.py execution: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0972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1097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Legitimate appointment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109728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" y="1591056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744" y="1591056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159105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47088" y="159105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Healthcare portal lure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159105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084832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" y="2084832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0848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47088" y="20848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Insurance + IP link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208483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2578608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" y="2578608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5786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47088" y="25786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Internal HR email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2578608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" y="3072384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7744" y="3072384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07238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47088" y="307238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Malformed sender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30723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" y="3566160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37744" y="3566160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35661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47088" y="35661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Payroll maintenance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6052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82880" y="4059936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7744" y="4059936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" y="405993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47088" y="40599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Display-name spoof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60520" y="405993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82880" y="4553712"/>
            <a:ext cx="4297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7744" y="4553712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" y="455371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Suspicious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47088" y="45537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Edge: subdomain TLD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455371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0000"/>
                </a:solidFill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663440" y="1097280"/>
            <a:ext cx="4297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18304" y="1097280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21808" y="10972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27648" y="1097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Edge: lab results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41080" y="109728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0000"/>
                </a:solidFill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663440" y="1591056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18304" y="1591056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21808" y="159105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27648" y="159105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Obfuscation caught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41080" y="159105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663440" y="2084832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18304" y="2084832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21808" y="20848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27648" y="20848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Physician referral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41080" y="208483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663440" y="2578608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18304" y="2578608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321808" y="25786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27648" y="25786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Multi-vector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641080" y="2578608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663440" y="3072384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18304" y="3072384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21808" y="307238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27648" y="307238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Appointment reminder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641080" y="30723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663440" y="3566160"/>
            <a:ext cx="4297680" cy="438912"/>
          </a:xfrm>
          <a:prstGeom prst="rect">
            <a:avLst/>
          </a:prstGeom>
          <a:solidFill>
            <a:srgbClr val="FFEBEE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18304" y="3566160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321808" y="35661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Phishing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327648" y="35661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EOB + spoof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64108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663440" y="4059936"/>
            <a:ext cx="42976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718304" y="4059936"/>
            <a:ext cx="594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TC-15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321808" y="405993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Safe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327648" y="40599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IT password reminder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641080" y="405993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00"/>
                </a:solidFill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Edge Cases — Documented &amp; Analyzed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TC-08: Subdomain Spoofing — Expected Phishing | Got Suspicious (40/100)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Sender: noreply@accounts-yourclinic.xyz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System correctly flagged: suspicious sender (+20) + 2 healthcare lures (+20) = 40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Root cause: no additional penalty for TLD-only mismatch when subdomain looks legitimate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Status: documented residual risk — threshold tuning recommended (short-term roadmap)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TC-09: Internal Lab Results — Expected Suspicious | Got Safe (20/100)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3716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Sender: labs@yourclinic.org — trusted internal domain, no sender flag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Body: 'patient portal' + 'lab results available' = +20 pts only → Safe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Conclusion: this is CORRECT behavior — the email is legitimately safe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Status: test expectation was overly conservative — will be revised to Safe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Residual Risk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What remains after all controls are applied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Updated Risk Register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8778240" cy="29260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749808"/>
            <a:ext cx="10972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749808"/>
            <a:ext cx="10972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069848"/>
            <a:ext cx="8778240" cy="51206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" y="1069848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Phishing bypass / AI evasion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06984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143000"/>
            <a:ext cx="914400" cy="365760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0" y="106984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069848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Reduced — obfuscation caught; novel TTP possible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636776"/>
            <a:ext cx="8778240" cy="51206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" y="1636776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Credential theft / fake login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709928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0" y="16367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1709928"/>
            <a:ext cx="914400" cy="365760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16367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636776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Reduced — display-name caught; lookalikes partial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203704"/>
            <a:ext cx="8778240" cy="51206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2203704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Malware via attachment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2276856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06240" y="22037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20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2276856"/>
            <a:ext cx="914400" cy="3657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22037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203704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Partial — no deep attachment scan yet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2770632"/>
            <a:ext cx="8778240" cy="51206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" y="2770632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AI evasion (adversarial)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2843784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277063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20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94960" y="2843784"/>
            <a:ext cx="914400" cy="3657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03520" y="277063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2770632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Partial — obfuscation caught; zero-day possible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337560"/>
            <a:ext cx="8778240" cy="51206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82880" y="3337560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Employee ignores warning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3410712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206240" y="333756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3410712"/>
            <a:ext cx="914400" cy="365760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0" y="333756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0" y="3337560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Reduced — Phishing emails now quarantined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3904488"/>
            <a:ext cx="8778240" cy="51206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" y="3904488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Compromised internal account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3977640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0" y="390448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10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94960" y="3977640"/>
            <a:ext cx="914400" cy="365760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03520" y="390448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0800" y="3904488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Unchanged — internal spoofing not fully addressed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4471416"/>
            <a:ext cx="8778240" cy="51206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82880" y="4471416"/>
            <a:ext cx="40233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Subdomain TLD gap (TC-08)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97680" y="4544568"/>
            <a:ext cx="914400" cy="36576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06240" y="44714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12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394960" y="4544568"/>
            <a:ext cx="914400" cy="3657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303520" y="44714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400800" y="4471416"/>
            <a:ext cx="25603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New — threshold tuning needed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8E8"/>
                </a:solidFill>
              </a:rPr>
              <a:t>What we do next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Recommendations &amp;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Short-Term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(0–30 days)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Subdomain TLD threshold tuning (+15 pts for .xyz/.click on clinic-name subdomain)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Revise TC-09 expected classification to Safe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Push v2 to GitHub src/ — update README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749808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72968" y="749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Medium-Term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(30–90 days)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Migrate logging from CSV → SQLite (enables trend queries)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Build minimal user-facing warning UI (HTML banner or CLI prompt)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Add SPF/DKIM validation as a high-value low-cost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749808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3056" y="749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Long-Term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(90+ days)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Train ML classifier (Naive Bayes/Random Forest) on labeled healthcare email dataset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Integrate with simulated SMTP server for end-to-end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Red-team exercise: craft evasion emails, use results to improve rule set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60C72-FF99-23E3-EEFB-66767D5F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E0365B-1779-9DD9-B4EE-1D5E4E5A7D2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F2BA8E-1C5B-A4A0-18F6-5CA4C0C0545C}"/>
              </a:ext>
            </a:extLst>
          </p:cNvPr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08</a:t>
            </a:r>
            <a:endParaRPr lang="en-US" sz="7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6E9AC4-9A3A-FDFC-2301-2F0D8765CA13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2DD1CC-4792-F835-9555-2160DC37E8E5}"/>
              </a:ext>
            </a:extLst>
          </p:cNvPr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32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A2710-5B65-E4A0-D179-01131E9A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36D3B-F69E-3B54-8C0A-0569926D9F4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C4D7D8-813C-EC62-3962-350C4DDA3F54}"/>
              </a:ext>
            </a:extLst>
          </p:cNvPr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B9B4CE-D759-BDA4-31AA-A408CE07F5C6}"/>
              </a:ext>
            </a:extLst>
          </p:cNvPr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2DBB2D-D2A6-1EE4-E24F-119006CBDA65}"/>
              </a:ext>
            </a:extLst>
          </p:cNvPr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AI-Assisted Phishing Detection  |  CS361  |  Final Report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4B6111-2F77-024E-0611-7EBA9EE13DCD}"/>
              </a:ext>
            </a:extLst>
          </p:cNvPr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Short-Term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(0–30 days)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4F36FDB-1CFA-E956-5504-1FE8432AE203}"/>
              </a:ext>
            </a:extLst>
          </p:cNvPr>
          <p:cNvSpPr/>
          <p:nvPr/>
        </p:nvSpPr>
        <p:spPr>
          <a:xfrm>
            <a:off x="182880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4403C4-04DB-D00E-E137-AE820A78D22B}"/>
              </a:ext>
            </a:extLst>
          </p:cNvPr>
          <p:cNvSpPr/>
          <p:nvPr/>
        </p:nvSpPr>
        <p:spPr>
          <a:xfrm>
            <a:off x="274320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/>
              <a:t>Designed, implemented &amp; validated a phishing detection system for healthcare — no external dependencies</a:t>
            </a:r>
          </a:p>
          <a:p>
            <a:pPr marL="342900" indent="-342900">
              <a:buSzPct val="100000"/>
              <a:buChar char="•"/>
            </a:pPr>
            <a:r>
              <a:rPr lang="en-US" sz="1100" dirty="0"/>
              <a:t>v2 achieves 93.3% accuracy, 100% precision, 88.9% recall across 15 structured test cases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054350-718F-4E9E-348D-E5BAFC02A2EC}"/>
              </a:ext>
            </a:extLst>
          </p:cNvPr>
          <p:cNvSpPr/>
          <p:nvPr/>
        </p:nvSpPr>
        <p:spPr>
          <a:xfrm>
            <a:off x="3172968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D52A2BC-672C-38BF-F401-379026228D56}"/>
              </a:ext>
            </a:extLst>
          </p:cNvPr>
          <p:cNvSpPr/>
          <p:nvPr/>
        </p:nvSpPr>
        <p:spPr>
          <a:xfrm>
            <a:off x="3264408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/>
              <a:t>Zero false positives — every legitimate email correctly delivered</a:t>
            </a:r>
          </a:p>
          <a:p>
            <a:pPr marL="342900" indent="-342900">
              <a:buSzPct val="100000"/>
              <a:buChar char="•"/>
            </a:pPr>
            <a:r>
              <a:rPr lang="en-US" sz="1100" dirty="0"/>
              <a:t>Six new defensive controls mapped directly to CP2 risks — fully traceable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965D84A-8589-5E66-7545-C82AD70022F9}"/>
              </a:ext>
            </a:extLst>
          </p:cNvPr>
          <p:cNvSpPr/>
          <p:nvPr/>
        </p:nvSpPr>
        <p:spPr>
          <a:xfrm>
            <a:off x="6163056" y="749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Long-Term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(90+ days)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4F5099-852E-C02D-D8E0-002421412D31}"/>
              </a:ext>
            </a:extLst>
          </p:cNvPr>
          <p:cNvSpPr/>
          <p:nvPr/>
        </p:nvSpPr>
        <p:spPr>
          <a:xfrm>
            <a:off x="6163056" y="1124712"/>
            <a:ext cx="2834640" cy="370332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6BDE4C3-7EF4-66E2-AC6B-4AA2BDF1C37C}"/>
              </a:ext>
            </a:extLst>
          </p:cNvPr>
          <p:cNvSpPr/>
          <p:nvPr/>
        </p:nvSpPr>
        <p:spPr>
          <a:xfrm>
            <a:off x="6254496" y="118872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/>
              <a:t>Two edge cases fully characterized with root cause analysis and remediation roadmap</a:t>
            </a:r>
          </a:p>
          <a:p>
            <a:pPr marL="342900" indent="-342900">
              <a:buSzPct val="100000"/>
              <a:buChar char="•"/>
            </a:pPr>
            <a:r>
              <a:rPr lang="en-US" sz="1100" dirty="0"/>
              <a:t>Methodology is repeatable and transferable to real clinic environments</a:t>
            </a: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80CEA8D4-57D9-C6A3-6528-9CB2DD6574C0}"/>
              </a:ext>
            </a:extLst>
          </p:cNvPr>
          <p:cNvSpPr/>
          <p:nvPr/>
        </p:nvSpPr>
        <p:spPr>
          <a:xfrm>
            <a:off x="168341" y="821319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F6B0AD5A-D992-C439-14BF-D4B1EC837DDA}"/>
              </a:ext>
            </a:extLst>
          </p:cNvPr>
          <p:cNvSpPr/>
          <p:nvPr/>
        </p:nvSpPr>
        <p:spPr>
          <a:xfrm>
            <a:off x="3187507" y="795528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CD6B6FF-2F20-FD0C-7672-AF33D4CF00AA}"/>
              </a:ext>
            </a:extLst>
          </p:cNvPr>
          <p:cNvSpPr/>
          <p:nvPr/>
        </p:nvSpPr>
        <p:spPr>
          <a:xfrm>
            <a:off x="6163056" y="786384"/>
            <a:ext cx="2834640" cy="3474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37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5DD38-EB05-E6BB-2561-A6AB6232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F351A8-95CA-7620-CC01-1B0C72587F0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1FAFE4-CC9F-2400-A3D4-402AF237FF4F}"/>
              </a:ext>
            </a:extLst>
          </p:cNvPr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366"/>
                </a:solidFill>
              </a:rPr>
              <a:t>09</a:t>
            </a:r>
            <a:endParaRPr lang="en-US" sz="7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8C7E50-13B9-1227-F7E6-7E2150C9755E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EF0381-6C1A-19B8-B51C-6F7A5A3BF41A}"/>
              </a:ext>
            </a:extLst>
          </p:cNvPr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71600" y="4526280"/>
            <a:ext cx="6400800" cy="420624"/>
          </a:xfrm>
          <a:prstGeom prst="rect">
            <a:avLst/>
          </a:prstGeom>
          <a:solidFill>
            <a:srgbClr val="222244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pPr algn="ctr"/>
            <a:r>
              <a:rPr lang="en-US" i="1" dirty="0">
                <a:solidFill>
                  <a:srgbClr val="E8E8E8"/>
                </a:solidFill>
              </a:rPr>
              <a:t>github.com/SergioOlivas1/CS361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0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1667</Words>
  <Application>Microsoft Office PowerPoint</Application>
  <PresentationFormat>On-screen Show (16:9)</PresentationFormat>
  <Paragraphs>371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Phishing Detection — Final Presentation</dc:title>
  <dc:subject>PptxGenJS Presentation</dc:subject>
  <dc:creator>CS361 Team</dc:creator>
  <cp:lastModifiedBy>Olatunji, Victor (UMKC-Student)</cp:lastModifiedBy>
  <cp:revision>2</cp:revision>
  <dcterms:created xsi:type="dcterms:W3CDTF">2026-04-27T02:29:32Z</dcterms:created>
  <dcterms:modified xsi:type="dcterms:W3CDTF">2026-04-27T02:52:29Z</dcterms:modified>
</cp:coreProperties>
</file>